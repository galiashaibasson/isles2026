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Dice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WideAugBaseline
(ResEncM)</c:v>
                  </c:pt>
                  <c:pt idx="1">
                    <c:v>Baseline
(ResEncM)</c:v>
                  </c:pt>
                  <c:pt idx="2">
                    <c:v>FocalTversky</c:v>
                  </c:pt>
                  <c:pt idx="3">
                    <c:v>WideAugBaseline</c:v>
                  </c:pt>
                  <c:pt idx="4">
                    <c:v>Baseline</c:v>
                  </c:pt>
                  <c:pt idx="5">
                    <c:v>TverskyMild</c:v>
                  </c:pt>
                  <c:pt idx="6">
                    <c:v>LesionAware
Sampling</c:v>
                  </c:pt>
                  <c:pt idx="7">
                    <c:v>LesionAware
SamplingPowCurr.</c:v>
                  </c:pt>
                  <c:pt idx="8">
                    <c:v>LesionAware
SamplingPow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0.6553</c:v>
                </c:pt>
                <c:pt idx="1">
                  <c:v>0.655</c:v>
                </c:pt>
                <c:pt idx="2">
                  <c:v>0.6486</c:v>
                </c:pt>
                <c:pt idx="3">
                  <c:v>0.6481</c:v>
                </c:pt>
                <c:pt idx="4">
                  <c:v>0.6483</c:v>
                </c:pt>
                <c:pt idx="5">
                  <c:v>0.6434</c:v>
                </c:pt>
                <c:pt idx="6">
                  <c:v>0.6276</c:v>
                </c:pt>
                <c:pt idx="7">
                  <c:v>0.6173</c:v>
                </c:pt>
                <c:pt idx="8">
                  <c:v>0.6127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8"/>
          <c:min val="0.55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Arial"/>
              </a:rPr>
              <a:t>Dice by split (Baseline)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Baseline_500epochs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val</c:v>
                  </c:pt>
                  <c:pt idx="1">
                    <c:v>test_id</c:v>
                  </c:pt>
                  <c:pt idx="2">
                    <c:v>test_ood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0.6483</c:v>
                </c:pt>
                <c:pt idx="1">
                  <c:v>0.6278</c:v>
                </c:pt>
                <c:pt idx="2">
                  <c:v>0.6764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5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Arial"/>
              </a:rPr>
              <a:t>Dice by lesion size (4-model ensemble)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 by size bin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</c:v>
                  </c:pt>
                  <c:pt idx="1">
                    <c:v>Medium</c:v>
                  </c:pt>
                  <c:pt idx="2">
                    <c:v>Large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0.5238</c:v>
                </c:pt>
                <c:pt idx="1">
                  <c:v>0.6325</c:v>
                </c:pt>
                <c:pt idx="2">
                  <c:v>0.8252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389120"/>
            <a:ext cx="4754880" cy="47548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4380" y="708660"/>
            <a:ext cx="1325880" cy="13258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894283"/>
            <a:ext cx="954634" cy="9546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Ischemic Stroke Lesion Segmentation with nnU-Net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ISLES’26 Challenge Pipeline — Model Exploration, Post-Processing, and Ensembling on ATLAS v3.0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663440"/>
            <a:ext cx="0" cy="8686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754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Galia Shai Basson &amp; Project Partner
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Course Final Project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Automated Stroke Lesion Segmentation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outcomes depend on how quickly and precisely the lesion is characterized.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703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375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volume and location directly guide treatment decisions and prognosis.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5349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9834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delineation on MRI is slow and shows real inter-rater variability.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18120" y="160020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0B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4272" y="22402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0" descr="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296" y="2432304"/>
            <a:ext cx="987552" cy="98755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4672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target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09244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lesion mask on T1-weighted MRI — background vs. infarct tissue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ISLES’26 Challenge &amp; Our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14401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5361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ISLES’26 (MICCAI 2026, grand-challenge.org): automatically delineate ischemic stroke lesions in T1w MRI — acute, sub-acute, chronic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native T1w MRI + JSON metadata (days post-stroke, chronicity, center). Out: binary lesion mask, same grid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Preliminary Docker Evaluation (sanity check) → Final test phase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28016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0B3D5C"/>
          </a:solidFill>
          <a:ln/>
        </p:spPr>
      </p:sp>
      <p:sp>
        <p:nvSpPr>
          <p:cNvPr id="9" name="Shape 6"/>
          <p:cNvSpPr/>
          <p:nvPr/>
        </p:nvSpPr>
        <p:spPr>
          <a:xfrm>
            <a:off x="6606540" y="14401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53619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v3.0, ≈1,500 scans (1,453 used) — the public stroke dataset our pipeline actually trains on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ATLAS v2.0 archive (955) + SOOP — Stroke Outcome Optimization Project (169) + newly added cases (329)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Multi-center: cases organized by acquisition center (R0XX folders), 48+ centers represented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Stage-specific CLIs (setup / data-prep / train / evaluate) orchestrate every step; the split is fixed once and reused everywhere.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13678" y="233172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13678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+ OOD holdout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1635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55371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620409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20409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1947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210235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→ nnU-Net format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88367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62103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7141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227141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8679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16967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integrity check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95098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68834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33872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833872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05410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23698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overfit-check sanity gate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1830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75566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40603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440603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2142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30430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Dice+CE trainer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08561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82297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047335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9047335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18873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study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637161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sampling / aug / arch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15293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89029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54066" y="233172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0654066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25605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10243893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aggregate, plot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2F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first: </a:t>
            </a:r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stratified split from step 1 is reused through every later stage — and every trainer passes an overfit-check gate before real GPU time is spent on it.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the Stratified Split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218420" y="3886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234" y="497434"/>
            <a:ext cx="559613" cy="559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Per-volume z-score normalization; gzip-integrity-checked; 3d_fullres patch-based representation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stratified 6-way split replaces nnU-Net’s default unstratified 5-fold CV — very important for a fair, reusable comparison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pool (train=898, val=128, test_id=129, test_ood=129)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1470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340614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0614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08076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7220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84682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</p:sp>
      <p:sp>
        <p:nvSpPr>
          <p:cNvPr id="17" name="Text 14"/>
          <p:cNvSpPr/>
          <p:nvPr/>
        </p:nvSpPr>
        <p:spPr>
          <a:xfrm>
            <a:off x="893826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test_ood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3826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Hidden, opened once (final_holdout_id 5%  +  final_holdout_ood 10%)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9593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B0472B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9593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final_holdout_id (5%)  +  final_holdout_ood (10%)  — never inspected during development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AF2F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lesion-size bin (small/medium/large); test_ood/holdout_ood by whole excluded sites (20,000-trial seeded search) — this measures cross-center generalization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guards: git-ignored final_holdout/ dir, ground_truth_DO_NOT_TOUCH/, explicit no-overlap assertions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Self-Configuring nnU-Net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9F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206240" y="169164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 (nnunetv2==2.8.1, pinned)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9F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206240" y="29260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3d_fullres, self-configured from dataset fingerprint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9F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60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206240" y="41605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supervision across decoder stages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53949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9F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394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studied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206240" y="53949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nnUNetPlans vs. residual-encoder nnUNetResEncUNetMPlans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– Decoder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377440"/>
            <a:ext cx="100584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583180"/>
            <a:ext cx="10058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2766060"/>
            <a:ext cx="118872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948940"/>
            <a:ext cx="11887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766060"/>
            <a:ext cx="1188720" cy="105156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583180"/>
            <a:ext cx="1005840" cy="141732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2377440"/>
            <a:ext cx="1005840" cy="182880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+ deep supervision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95560" y="3291840"/>
            <a:ext cx="50292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74420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mask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T1-weighted volume in → 3D convolutional encoder/decoder → binary lesion mask out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Work: Bugs Caught by Diagnosis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218420" y="388620"/>
            <a:ext cx="777240" cy="777240"/>
          </a:xfrm>
          <a:prstGeom prst="ellipse">
            <a:avLst/>
          </a:prstGeom>
          <a:solidFill>
            <a:srgbClr val="B0472B"/>
          </a:solidFill>
          <a:ln/>
        </p:spPr>
      </p:sp>
      <p:pic>
        <p:nvPicPr>
          <p:cNvPr id="4" name="Image 0" descr="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234" y="497434"/>
            <a:ext cx="559613" cy="559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check_status.sh — a diagnosis tool built for this project: per-condition epoch, loss, pseudo-Dice, ETA, and process-alive status, read from the newest run log.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9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659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B0472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65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— CAUGHT AT SCALE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Lesion-aware sampling collapse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inverse-volume weights: 3 empty-mask cases alone captured 66% of sampling probability (top 10/898 → 74.5%)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trained almost only on near-empty cases and collapsed to predicting nothing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Pseudo-Dice pinned at exactly 0.0 for 96+ epochs while loss kept moving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bin-level 4:2:1 weighting — share dropped to 0.5% / 1.7%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96596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— CAUGHT PRE-LAUNCH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468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TopK-family loss collapse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400800" y="30632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TopK10 collapsed to an entirely empty mask on a real 500-epoch launch — no term punishes an empty prediction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hedged Dice+TopK10 version was suspected to have the same flaw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Overfit-check sanity gate (100 epochs, 6-case sample) caught the identical Pseudo-Dice-pinned-at-0.0 signature in minutes, not epochs — before any real GPU time was spent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not a wiring bug via a standalone synthetic-batch gradient check; both dropped as a real negative finding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model-exploration axes, uniform epoch budget, all evaluated on the same stratified split.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9888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655" y="211043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Dice-only, Focal, Tversky, Focal-Tversky, TverskyMild, TopK-family.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64992" y="178308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4279392" y="19888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rosshai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007" y="211043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47872" y="3749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lesion-aware sampling — fixed, power-law, and curriculum variants.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5744" y="19888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211043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8504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64224" y="3749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widened intensity augmentation (WideAug) vs. stock nnU-Net.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997696" y="178308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912096" y="19888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711" y="2110435"/>
            <a:ext cx="625450" cy="625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80576" y="37490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plans vs. residual-encoder nnUNetResEncUNetMPlans.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 Study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shapes how the network balances precision and recall on small lesions.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27248" y="1600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58968" y="1600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56448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65836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48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nnUNetTrainer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27248" y="2148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 (baseline)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58968" y="214884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weighting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56448" y="2148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reference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0720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072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DiceOnly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7248" y="28072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only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58968" y="28072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56448" y="28072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Loss-ablation control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11064240" cy="65836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4655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27248" y="34655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58968" y="34655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α=0.3, β=0.7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56448" y="34655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small-lesion recall, but more FP components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39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FocalTversky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27248" y="412394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Focal-Tversky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58968" y="4123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α=0.3, β=0.7, γ=0.75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56448" y="41239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Hard-example focus + FN emphasis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2312"/>
            <a:ext cx="11064240" cy="65836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7823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TverskyMild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27248" y="478231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Tversky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58968" y="47823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α=0.4, β=0.6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56448" y="4782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Softened asymmetry, keeps Dice term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54406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TopK10 / DC+TopK10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127248" y="5440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TopK(k=10) [+Dice]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458968" y="54406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156448" y="54406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collapsed to empty mask — dropped (see bugs)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Lesion-Aware Sampling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crossh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6172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lesions drive most segmentation failures, yet are under-represented in uniformly sampled batches.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(fixed 4:2:1): bin-level weighting by small/medium/large tertile — the fix for the sampling-collapse bug.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Sampling-Pow (p=0.5): power-law weighting grounded in real per-bin volume mass, less arbitrary than a fixed ratio.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Sampling-Pow-Curriculum: p annealed 0→1 over 20 steps of 25 epochs — defers the strong correction to later training.</a:t>
            </a:r>
            <a:endParaRPr lang="en-US" sz="16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stays uniform in every variant — only the training loader is reweighted.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0" y="1554480"/>
            <a:ext cx="4663440" cy="4434840"/>
          </a:xfrm>
          <a:prstGeom prst="roundRect">
            <a:avLst>
              <a:gd name="adj" fmla="val 2062"/>
            </a:avLst>
          </a:prstGeom>
          <a:solidFill>
            <a:srgbClr val="EAF2F3"/>
          </a:solidFill>
          <a:ln/>
        </p:spPr>
      </p:sp>
      <p:sp>
        <p:nvSpPr>
          <p:cNvPr id="7" name="Text 4"/>
          <p:cNvSpPr/>
          <p:nvPr/>
        </p:nvSpPr>
        <p:spPr>
          <a:xfrm>
            <a:off x="717804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weight vs. lesion size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452360" y="3044952"/>
            <a:ext cx="1051560" cy="1892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4983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823960" y="3781044"/>
            <a:ext cx="1051560" cy="1156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732520" y="4983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195560" y="4306824"/>
            <a:ext cx="1051560" cy="630936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3" name="Text 10"/>
          <p:cNvSpPr/>
          <p:nvPr/>
        </p:nvSpPr>
        <p:spPr>
          <a:xfrm>
            <a:off x="10104120" y="4983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178040" y="5440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concept (fixed 4:2:1 variant), not measured data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 Strategy: Deliberate, Not Default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intensity-augmentation range was nnU-Net’s untouched generic default — chosen for no reason specific to this dataset’s cross-scanner goal.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0B3D5C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50208" y="1783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range / prob.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36408" y="1783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WideAug range / prob.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1106424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286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/ contrast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50208" y="22860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×0.75–1.25, p=0.15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36408" y="22860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×0.6–1.4, p=0.3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85292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50208" y="285292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0.7–1.5, p=0.1 / 0.3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36408" y="285292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0.6–1.6, p=0.2 / 0.4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419856"/>
            <a:ext cx="1106424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4198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deformation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950208" y="34198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36408" y="34198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OFF — would distort lesion shape itself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4805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0B3D5C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61772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blur, low-res simulation, scaling, rotation, mirroring: unchanged from stock, byte-for-byte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has no Hounsfield-unit-style absolute meaning to preserve — a wider multiplicative/contrast range stays anatomically valid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nnU-Net preset (DA5) was investigated as an alternative but never fully verified in time — deliberately left unshipped rather than shipped unverified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Variant: Residual Encoder (ResEncM)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nnU-Net’s own planner flags the default ExperimentPlanner (plain encoder) as outdated vs. residual-encoder presets, which nnU-Net’s own benchmarks show outperforming it at modest extra cost.</a:t>
            </a:r>
            <a:endParaRPr lang="en-US" sz="19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headroom (L40S, 46GB, ~37GB free) comfortably covers the ResEncM plan.</a:t>
            </a:r>
            <a:endParaRPr lang="en-US" sz="19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top of two of the cleanest conditions: plain Baseline and WideAugBaseline — deliberately not stacking a third unvalidated change on top, to avoid confounding architecture × augmentation.</a:t>
            </a:r>
            <a:endParaRPr lang="en-US" sz="19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decided between M vs. L — L is likely stronger but slower / more memory; M is the one actually run.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Trainer Roster — 9 Real Conditions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500 epochs on Dataset002 (1,453 cases), same split, same evaluation protocol.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87568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53728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87568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(Dice+CE)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25372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(ResEncM)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87568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53728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ResEncM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64240" cy="41148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FocalTversky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87568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53728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TverskyMild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8756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53728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WideAugBaseline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87568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53728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WideAugBaseline (ResEncM)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87568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+ architecture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53728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ResEncM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1064240" cy="41148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LesionAwareSampling (4:2:1)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87568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253728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LesionAwareSamplingPow (p=0.5)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687568" y="4846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253728" y="4846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LesionAwareSamplingPowCurriculum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687568" y="5257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(annealed)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53728" y="5257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built: an overfit-check sanity gate per condition, and a debug-only pipeline-plumbing trainer (never a real result).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Post-Processing: Connected-Component Grid 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 predicted components smaller than min_voxels — multifocal stroke is common, so “keep only the largest component” would delete genuine lesions.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min_voxels ∈ {1,2,3,4,5,6,8,10,15,20} × connectivity ∈ {1,3}  (min_voxels=1 = raw / no-op control).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only on validation (120–128 cases) — never on test_id / test_ood during the search itself.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winning combo applied once to the held-out test predictions for a before/after comparison.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Post-Processing: “No-Op Wins”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57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HD95-primary search (baseline500): winner = min_voxels=1 (raw). Dice moves ≤0.0004 across all 20 combos; HD95 only gets worse as filtering grows (19.70mm → 20.3+mm).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40080"/>
          </a:xfrm>
          <a:prstGeom prst="roundRect">
            <a:avLst>
              <a:gd name="adj" fmla="val 5714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(Dice-primary rerun)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Dice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316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HD95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19659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Les-F1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5352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25128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HD95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96728" y="19659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Les-F1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(no-op)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73168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44768" y="26060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53528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25128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96728" y="26060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cc15_conn2 (selected)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01568" y="3200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73168" y="3200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44768" y="32004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53528" y="3200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25128" y="3200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16.843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96728" y="32004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EAF2F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Helped: r050s001 — a spurious ~10-voxel blob removed, Dice 0.737→0.848, lesion-F1 0.667→1.0.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 (worst case in the test set): r053s042 — a genuine tiny lesion below the 15-voxel cutoff was deleted entirely, Dice 0.714→0.0.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 of the latest project update: still open — ship cc15_conn2 or report raw. The Dice cost is inside the noise band; the lesion-F1 gain is real but occasionally deletes a true lesion outright.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0B3D5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Voxel-wise region overlap between prediction and ground truth (0–1, higher is better). Defined as 1.0 when both masks are empty.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(mm)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0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95th-percentile surface distance between predicted and true boundaries (lower is better). NaN when either surface is empty.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Lesion-wise F1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21040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 matching: F1 = 2·TP / (2·TP + FP + FN), counting whole lesions, not voxels.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computed per case: AVD (absolute volume difference) and lesion-count difference — two more of the four official ISLES metrics. Geometry is read via SimpleITK (matches nnU-Net’s own I/O), avoiding a stale-qform/sform mismatch nibabel showed on some real ATLAS files.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Protocol &amp; Statistical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val: used repeatedly during development, for training and model selection only.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test_id and test_ood: the primary dev-time comparison — in-distribution vs. cross-center generalization.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final_holdout_id / final_holdout_ood: opened once, at the very end, for the final reported numbers.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uses paired case-level comparison (same case set per trainer, enforced) with paired bootstrap — 2000 resamples, 95% CI; significance = CI excludes 0.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switched Dice ← HD95 project-wide: Dice is always defined (HD95 is NaN on empty-lesion cases) and lower-variance across a ~120-case set.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fold is fast to iterate on, but not a substitute for full cross-validation — exactly why the final model moved to 3-fold CV (see Current Status).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Pipeline Reproducible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review pass fixed real correctness issues throughout the project, not just at the start.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17220" y="20345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2117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parsing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2860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now parsed by field name, not column position — a positional bug silently produced wrong values for one whole site.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32220" y="20345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430" y="211775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86600" y="22860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SOOP site (169 cases) was present on disk but silently missed by find_cases() — fixed and re-verified.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" y="35433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" y="362651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mismatch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794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reads geometry via SimpleITK, not nibabel, after a stale qform/sform pair produced a false mismatch.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32220" y="35433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430" y="3626510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discovery bug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86600" y="3794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discover_runs() keyed by trainer name only — silently overwrote 2 of 9 runs; now keys by trainer+plans and raises on collision.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" y="50520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" y="5135270"/>
            <a:ext cx="427939" cy="4279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937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53035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stamps a debug/fingerprint/manifest JSON so a later hyperparameter change can never silently reuse an incompatible checkpoint.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32220" y="50520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430" y="5135270"/>
            <a:ext cx="427939" cy="42793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4937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reorg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086600" y="53035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“Duplicate first, reorganize the copy, never touch the original until verified” — applied even to non-modeling engineering work.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Overall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 VAL, n=119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Val-set ranking, Dice-primary, vs. best trainer WideAugBaseline (ResEncM) — dice diff (95% CI), paired bootstrap.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11247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3 sampling variants are significantly below the top trainer; the other 5 are statistically tied with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by Split and Lesion Size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4173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B0472B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5669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anomaly: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test_ood scores ≥ test_id across conditions — opposite of the ISLES’26 cross-center-gap premise. Flagged, not yet resolved whether genuine or an artifact of which 6 sites became the locked OOD set.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Finalist Selection &amp; Ensembling: A Negative 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6696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76" y="58521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88720"/>
            <a:ext cx="429768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88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DATASET002, CONCLUDED 2026-08-21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 on real voxel-probability correlations (not just a Dice proxy): max correlation across all 9 trainers is 0.937 — every trainer remains its own singleton at the r=0.95 cut, so no pair is truly redundant.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model on val: WideAugBaseline (ResEncM), Dice 0.6553. No 4-model ensemble combo beats it significantly (p = 0.14–0.97 across all combos, one combo significantly worse).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confirms it: across all 18 breakdown×metric rows (overall / test_id / test_ood / size bins), the ensemble is never significantly different from the best single model (p range 0.14–0.97).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ensembling does not produce a statistically significant improvement on this dataset — reported as a real negative finding, alongside the post-processing “no-op wins” result.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Single-Model Choice: WideAugBaseline (ResEncM)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5486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6766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point estimate (Dice 0.6553); held up on held-out test (0.6552, best on medium/small size bins).</a:t>
            </a:r>
            <a:endParaRPr lang="en-US" sz="17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the two clearest independently-motivated wins: WideAug and the ResEncM architecture — deliberately not stacked with a third unvalidated change.</a:t>
            </a:r>
            <a:endParaRPr lang="en-US" sz="17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statistically tied on val with 5 of the other 8 trainers — only the 3 sampling variants score significantly lower. Not a clean outright winner, best-ranked among a tied group.</a:t>
            </a:r>
            <a:endParaRPr lang="en-US" sz="17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caveat: ResEncM is materially larger than the standard-plans baseline; plain WideAugBaseline is statistically indistinguishable and cheaper.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to Insert — Training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06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B0472B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filenames from the repo — dropped in manually once finalized.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019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991563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764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figures/learning_curves/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91640" y="2148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learning_curves_all_trainers.png, train_val_overlay_all_trainers.png, lr_schedule_all_trainers.png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090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3180283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9535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figures/results_comparison/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33375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overall_dice.png, overall_hd95.png, overall_lesion_f1.png, dice_by_size_bin.png, dice_by_split.png, dice_by_center.png, dice_vs_volume_scatter.png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2793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369003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422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figures/threshold_analysis/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91640" y="4526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dice_vs_threshold_&lt;experiment&gt;.png, probability_histogram_&lt;experiment&gt;.png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9FA"/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54681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5557723"/>
            <a:ext cx="460858" cy="4608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53309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workspace/postprocess_grid/…/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91640" y="5715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grid_summary_val.csv (chart), test_final/results_{raw,cc15_conn2}_test.csv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to Insert — Qualitative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0664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B0472B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9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1012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01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figures/qualitative_overlays/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1945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&lt;model-label&gt;_{best,fn_dominant,fp_dominant}.png, or by-size-bin panels (small/medium/large)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35643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2644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figures/augmentation_examples/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657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augmentation_comparison_ATLAS_r001s001_ses1.png, augmentation_forced_intensity_….png, augmentation_context_….png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9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937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50273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27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figures/finalist_selection/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dice_correlation_heatmap.png, voxel_probability_correlation.png, pca_scatter.png, dendrogram.png, ranked_metrics.png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1 qualitative overlay (a clear win or failure case), the augmentation before/after, and the PCA/dendrogram redundancy figure.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Status: Final Run In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26980" y="52578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1397" y="660197"/>
            <a:ext cx="691286" cy="6912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(loss / sampling / augmentation / architecture / postprocessing / ensembling) is model selection on Dataset002.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configuration (WideAugBaseline, ResEncM plans) is now training on Dataset003 — train+val+test_id+test_ood pooled (≈1,212 cases), stratified 3-fold CV, a new dataset ID kept fully separate from Dataset002.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3-fold, not single-fold: the single biggest methodological upgrade for the model that actually ships — addresses the “one fold can’t support strong claims” caveat directly.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test split this time — everything went into training. The only remaining evaluation is the untouched final_holdout_id / final_holdout_ood, scored once, deliberately, after training finishes.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project’s real final result — not yet available at the time of this talk.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Loss/sampling/augmentation differences mostly wash out under proper statistical testing.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discipline (overfit gates, live monitoring) caught two real collapse bugs before they wasted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554480"/>
            <a:ext cx="3566160" cy="822960"/>
          </a:xfrm>
          <a:prstGeom prst="rect">
            <a:avLst/>
          </a:prstGeom>
          <a:solidFill>
            <a:srgbClr val="B0472B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results, reported honestly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no-op essentially wins; a small lesion-F1 gain isn’t free.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Ensembling: no significant gain over the single best model, on val and test alike.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test_ood ≥ test_id genuine, or an artifact of which 6 sites got excluded?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Dataset003 3-fold final run confirm the single-fold model-selection story?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5029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4938" y="643738"/>
            <a:ext cx="724205" cy="724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reproducible nnU-Net pipeline for stroke lesion segmentation on ATLAS v3.0, with a stratified 6-way split and real leakage guards.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9 real trainer conditions across loss, sampling, augmentation, and architecture, with proper paired-bootstrap statistics.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post-processing and ensembling — both real, negative/inconclusive findings, reported honestly rather than hidden.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and fixed two real training-collapse bugs through diagnosis discipline, one before any GPU time was spent.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26364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Dataset003 3-fold final run and score it once against the untouched final holdout.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cc15_conn2-vs-raw post-processing decision for the shipped model.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test_ood ≥ test_id anomaly with a split-aware per-center figure.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design: domain-adversarial training, ResEnc-L, LR/optimizer tuning, EMA/SWA.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2026-08-21T10:30:08Z</dcterms:created>
  <dcterms:modified xsi:type="dcterms:W3CDTF">2026-08-21T10:30:08Z</dcterms:modified>
</cp:coreProperties>
</file>