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 Dice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0B3D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WideAugBaseline
(ResEncM)</c:v>
                  </c:pt>
                  <c:pt idx="1">
                    <c:v>Baseline
(ResEncM)</c:v>
                  </c:pt>
                  <c:pt idx="2">
                    <c:v>FocalTversky</c:v>
                  </c:pt>
                  <c:pt idx="3">
                    <c:v>WideAugBaseline</c:v>
                  </c:pt>
                  <c:pt idx="4">
                    <c:v>Baseline</c:v>
                  </c:pt>
                  <c:pt idx="5">
                    <c:v>TverskyMild</c:v>
                  </c:pt>
                  <c:pt idx="6">
                    <c:v>LesionAware
Sampling</c:v>
                  </c:pt>
                  <c:pt idx="7">
                    <c:v>LesionAware
SamplingPowCurr.</c:v>
                  </c:pt>
                  <c:pt idx="8">
                    <c:v>LesionAware
SamplingPow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0.6553</c:v>
                </c:pt>
                <c:pt idx="1">
                  <c:v>0.655</c:v>
                </c:pt>
                <c:pt idx="2">
                  <c:v>0.6486</c:v>
                </c:pt>
                <c:pt idx="3">
                  <c:v>0.6481</c:v>
                </c:pt>
                <c:pt idx="4">
                  <c:v>0.6483</c:v>
                </c:pt>
                <c:pt idx="5">
                  <c:v>0.6434</c:v>
                </c:pt>
                <c:pt idx="6">
                  <c:v>0.6276</c:v>
                </c:pt>
                <c:pt idx="7">
                  <c:v>0.6173</c:v>
                </c:pt>
                <c:pt idx="8">
                  <c:v>0.6127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50" u="none">
                  <a:solidFill>
                    <a:srgbClr val="0B3D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B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8"/>
          <c:min val="0.55"/>
        </c:scaling>
        <c:delete val="0"/>
        <c:axPos val="l"/>
        <c:majorGridlines>
          <c:spPr>
            <a:ln w="12700" cap="flat">
              <a:solidFill>
                <a:srgbClr val="DDE6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B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3D5C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B3D5C"/>
                </a:solidFill>
                <a:latin typeface="Arial"/>
              </a:rPr>
              <a:t>Dice by split (Baseline)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Baseline_500epochs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3D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val</c:v>
                  </c:pt>
                  <c:pt idx="1">
                    <c:v>test_id</c:v>
                  </c:pt>
                  <c:pt idx="2">
                    <c:v>test_ood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0.6483</c:v>
                </c:pt>
                <c:pt idx="1">
                  <c:v>0.6278</c:v>
                </c:pt>
                <c:pt idx="2">
                  <c:v>0.6764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0B3D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B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2"/>
          <c:min val="0.55"/>
        </c:scaling>
        <c:delete val="0"/>
        <c:axPos val="l"/>
        <c:majorGridlines>
          <c:spPr>
            <a:ln w="12700" cap="flat">
              <a:solidFill>
                <a:srgbClr val="DDE6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B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3D5C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B3D5C"/>
                </a:solidFill>
                <a:latin typeface="Arial"/>
              </a:rPr>
              <a:t>Dice by lesion size (4-model ensemble)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Dice by size bin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3D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Small</c:v>
                  </c:pt>
                  <c:pt idx="1">
                    <c:v>Medium</c:v>
                  </c:pt>
                  <c:pt idx="2">
                    <c:v>Large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0.5238</c:v>
                </c:pt>
                <c:pt idx="1">
                  <c:v>0.6325</c:v>
                </c:pt>
                <c:pt idx="2">
                  <c:v>0.8252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0B3D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B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"/>
        </c:scaling>
        <c:delete val="0"/>
        <c:axPos val="l"/>
        <c:majorGridlines>
          <c:spPr>
            <a:ln w="12700" cap="flat">
              <a:solidFill>
                <a:srgbClr val="DDE6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B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1.png"/><Relationship Id="rId3" Type="http://schemas.openxmlformats.org/officeDocument/2006/relationships/image" Target="../media/image-16-1.png"/><Relationship Id="rId4" Type="http://schemas.openxmlformats.org/officeDocument/2006/relationships/image" Target="../media/image-16-1.png"/><Relationship Id="rId5" Type="http://schemas.openxmlformats.org/officeDocument/2006/relationships/image" Target="../media/image-16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03120" y="4389120"/>
            <a:ext cx="4754880" cy="4754880"/>
          </a:xfrm>
          <a:prstGeom prst="ellipse">
            <a:avLst/>
          </a:prstGeom>
          <a:solidFill>
            <a:srgbClr val="02C39A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54380" y="708660"/>
            <a:ext cx="1325880" cy="13258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" y="894283"/>
            <a:ext cx="954634" cy="9546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514600"/>
            <a:ext cx="10607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Ischemic Stroke Lesion Segmentation with nnU-Net</a:t>
            </a:r>
            <a:endParaRPr lang="en-US" sz="3900" dirty="0"/>
          </a:p>
        </p:txBody>
      </p:sp>
      <p:sp>
        <p:nvSpPr>
          <p:cNvPr id="7" name="Text 4"/>
          <p:cNvSpPr/>
          <p:nvPr/>
        </p:nvSpPr>
        <p:spPr>
          <a:xfrm>
            <a:off x="822960" y="37947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Simulated ISLES’26 Challenge Pipeline — Model Exploration, Post-Processing, and Ensembling on ATLAS v3.0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22960" y="4663440"/>
            <a:ext cx="0" cy="86868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1560" y="4754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Galia Shai Basson &amp; Project Partner
</a:t>
            </a:r>
            <a:endParaRPr lang="en-US" sz="1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Medical Imaging — Course Final Project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051560" y="5669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9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Automated Stroke Lesion Segmentation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7040880" cy="1463040"/>
          </a:xfrm>
          <a:prstGeom prst="roundRect">
            <a:avLst>
              <a:gd name="adj" fmla="val 5000"/>
            </a:avLst>
          </a:prstGeom>
          <a:solidFill>
            <a:srgbClr val="F5F9FA"/>
          </a:solidFill>
          <a:ln/>
        </p:spPr>
      </p:sp>
      <p:sp>
        <p:nvSpPr>
          <p:cNvPr id="4" name="Shape 2"/>
          <p:cNvSpPr/>
          <p:nvPr/>
        </p:nvSpPr>
        <p:spPr>
          <a:xfrm>
            <a:off x="841248" y="20574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00200" y="169164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outcomes depend on how quickly and precisely the lesion is characterized.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7040880" cy="1463040"/>
          </a:xfrm>
          <a:prstGeom prst="roundRect">
            <a:avLst>
              <a:gd name="adj" fmla="val 5000"/>
            </a:avLst>
          </a:prstGeom>
          <a:solidFill>
            <a:srgbClr val="F5F9FA"/>
          </a:solidFill>
          <a:ln/>
        </p:spPr>
      </p:sp>
      <p:sp>
        <p:nvSpPr>
          <p:cNvPr id="8" name="Shape 6"/>
          <p:cNvSpPr/>
          <p:nvPr/>
        </p:nvSpPr>
        <p:spPr>
          <a:xfrm>
            <a:off x="841248" y="370332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00200" y="333756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 volume and location directly guide treatment decisions and prognosis.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48640" y="4892040"/>
            <a:ext cx="7040880" cy="1463040"/>
          </a:xfrm>
          <a:prstGeom prst="roundRect">
            <a:avLst>
              <a:gd name="adj" fmla="val 5000"/>
            </a:avLst>
          </a:prstGeom>
          <a:solidFill>
            <a:srgbClr val="F5F9FA"/>
          </a:solidFill>
          <a:ln/>
        </p:spPr>
      </p:sp>
      <p:sp>
        <p:nvSpPr>
          <p:cNvPr id="12" name="Shape 10"/>
          <p:cNvSpPr/>
          <p:nvPr/>
        </p:nvSpPr>
        <p:spPr>
          <a:xfrm>
            <a:off x="841248" y="53492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5349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00200" y="498348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delineation on MRI is slow and shows real inter-rater variability.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7818120" y="1600200"/>
            <a:ext cx="3794760" cy="4709160"/>
          </a:xfrm>
          <a:prstGeom prst="roundRect">
            <a:avLst>
              <a:gd name="adj" fmla="val 2892"/>
            </a:avLst>
          </a:prstGeom>
          <a:solidFill>
            <a:srgbClr val="0B3D5C"/>
          </a:solidFill>
          <a:ln/>
        </p:spPr>
      </p:sp>
      <p:sp>
        <p:nvSpPr>
          <p:cNvPr id="16" name="Shape 14"/>
          <p:cNvSpPr/>
          <p:nvPr/>
        </p:nvSpPr>
        <p:spPr>
          <a:xfrm>
            <a:off x="9034272" y="2240280"/>
            <a:ext cx="1371600" cy="13716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0" descr="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6296" y="2432304"/>
            <a:ext cx="987552" cy="98755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046720" y="38404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target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8092440" y="43891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lesion mask on T1-weighted MRI — background vs. infarct tissue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Medical Imaging — ISLES’26 Project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ISLES’26 Challenge &amp; Our Dataset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49240" cy="4709160"/>
          </a:xfrm>
          <a:prstGeom prst="roundRect">
            <a:avLst>
              <a:gd name="adj" fmla="val 1942"/>
            </a:avLst>
          </a:prstGeom>
          <a:solidFill>
            <a:srgbClr val="F5F9FA"/>
          </a:solidFill>
          <a:ln/>
        </p:spPr>
      </p:sp>
      <p:sp>
        <p:nvSpPr>
          <p:cNvPr id="4" name="Shape 2"/>
          <p:cNvSpPr/>
          <p:nvPr/>
        </p:nvSpPr>
        <p:spPr>
          <a:xfrm>
            <a:off x="891540" y="144018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536192"/>
            <a:ext cx="493776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5087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2286000"/>
            <a:ext cx="4800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ISLES’26 (MICCAI 2026, grand-challenge.org): automatically delineate ischemic stroke lesions in T1w MRI — acute, sub-acute, chronic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native T1w MRI + JSON metadata (days post-stroke, chronicity, center). Out: binary lesion mask, same grid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Leaderboard: Preliminary Docker Evaluation (sanity check) → Final test phase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63640" y="1280160"/>
            <a:ext cx="5349240" cy="4709160"/>
          </a:xfrm>
          <a:prstGeom prst="roundRect">
            <a:avLst>
              <a:gd name="adj" fmla="val 1942"/>
            </a:avLst>
          </a:prstGeom>
          <a:solidFill>
            <a:srgbClr val="0B3D5C"/>
          </a:solidFill>
          <a:ln/>
        </p:spPr>
      </p:sp>
      <p:sp>
        <p:nvSpPr>
          <p:cNvPr id="9" name="Shape 6"/>
          <p:cNvSpPr/>
          <p:nvPr/>
        </p:nvSpPr>
        <p:spPr>
          <a:xfrm>
            <a:off x="6606540" y="144018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552" y="1536192"/>
            <a:ext cx="493776" cy="4937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06640" y="15087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Dataset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537960" y="2286000"/>
            <a:ext cx="4800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v3.0, ≈1,500 scans (1,453 used) — the public stroke dataset our pipeline actually trains on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ATLAS v2.0 archive (955) + SOOP — Stroke Outcome Optimization Project (169) + newly added cases (329)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Multi-center: cases organized by acquisition center (R0XX folders), 48+ centers represented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Medical Imaging — ISLES’26 Project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Stage-specific CLIs orchestrate every step; the split is fixed once and reused everywhere.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423851" cy="2468880"/>
          </a:xfrm>
          <a:prstGeom prst="roundRect">
            <a:avLst>
              <a:gd name="adj" fmla="val 6422"/>
            </a:avLst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1013678" y="2331720"/>
            <a:ext cx="493776" cy="49377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013678" y="23317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5216" y="2971800"/>
            <a:ext cx="135069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" y="3429000"/>
            <a:ext cx="131412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 + OOD holdout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981635" y="3337560"/>
            <a:ext cx="164592" cy="0"/>
          </a:xfrm>
          <a:prstGeom prst="line">
            <a:avLst/>
          </a:prstGeom>
          <a:noFill/>
          <a:ln w="19050">
            <a:solidFill>
              <a:srgbClr val="5B74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55371" y="2103120"/>
            <a:ext cx="1423851" cy="2468880"/>
          </a:xfrm>
          <a:prstGeom prst="roundRect">
            <a:avLst>
              <a:gd name="adj" fmla="val 6422"/>
            </a:avLst>
          </a:prstGeom>
          <a:solidFill>
            <a:srgbClr val="F5F9FA"/>
          </a:solidFill>
          <a:ln/>
        </p:spPr>
      </p:sp>
      <p:sp>
        <p:nvSpPr>
          <p:cNvPr id="11" name="Shape 9"/>
          <p:cNvSpPr/>
          <p:nvPr/>
        </p:nvSpPr>
        <p:spPr>
          <a:xfrm>
            <a:off x="2620409" y="2331720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2620409" y="23317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91947" y="2971800"/>
            <a:ext cx="135069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210235" y="3429000"/>
            <a:ext cx="131412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→ nnU-Net format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588367" y="3337560"/>
            <a:ext cx="164592" cy="0"/>
          </a:xfrm>
          <a:prstGeom prst="line">
            <a:avLst/>
          </a:prstGeom>
          <a:noFill/>
          <a:ln w="19050">
            <a:solidFill>
              <a:srgbClr val="5B74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762103" y="2103120"/>
            <a:ext cx="1423851" cy="2468880"/>
          </a:xfrm>
          <a:prstGeom prst="roundRect">
            <a:avLst>
              <a:gd name="adj" fmla="val 6422"/>
            </a:avLst>
          </a:prstGeom>
          <a:solidFill>
            <a:srgbClr val="F5F9FA"/>
          </a:solidFill>
          <a:ln/>
        </p:spPr>
      </p:sp>
      <p:sp>
        <p:nvSpPr>
          <p:cNvPr id="17" name="Shape 15"/>
          <p:cNvSpPr/>
          <p:nvPr/>
        </p:nvSpPr>
        <p:spPr>
          <a:xfrm>
            <a:off x="4227141" y="2331720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4227141" y="23317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98679" y="2971800"/>
            <a:ext cx="135069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816967" y="3429000"/>
            <a:ext cx="131412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integrity check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195098" y="3337560"/>
            <a:ext cx="164592" cy="0"/>
          </a:xfrm>
          <a:prstGeom prst="line">
            <a:avLst/>
          </a:prstGeom>
          <a:noFill/>
          <a:ln w="19050">
            <a:solidFill>
              <a:srgbClr val="5B748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368834" y="2103120"/>
            <a:ext cx="1423851" cy="2468880"/>
          </a:xfrm>
          <a:prstGeom prst="roundRect">
            <a:avLst>
              <a:gd name="adj" fmla="val 6422"/>
            </a:avLst>
          </a:prstGeom>
          <a:solidFill>
            <a:srgbClr val="F5F9FA"/>
          </a:solidFill>
          <a:ln/>
        </p:spPr>
      </p:sp>
      <p:sp>
        <p:nvSpPr>
          <p:cNvPr id="23" name="Shape 21"/>
          <p:cNvSpPr/>
          <p:nvPr/>
        </p:nvSpPr>
        <p:spPr>
          <a:xfrm>
            <a:off x="5833872" y="2331720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5833872" y="23317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05410" y="2971800"/>
            <a:ext cx="135069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423698" y="3429000"/>
            <a:ext cx="131412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overfit-check sanity gate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801830" y="3337560"/>
            <a:ext cx="164592" cy="0"/>
          </a:xfrm>
          <a:prstGeom prst="line">
            <a:avLst/>
          </a:prstGeom>
          <a:noFill/>
          <a:ln w="19050">
            <a:solidFill>
              <a:srgbClr val="5B748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975566" y="2103120"/>
            <a:ext cx="1423851" cy="2468880"/>
          </a:xfrm>
          <a:prstGeom prst="roundRect">
            <a:avLst>
              <a:gd name="adj" fmla="val 6422"/>
            </a:avLst>
          </a:prstGeom>
          <a:solidFill>
            <a:srgbClr val="F5F9FA"/>
          </a:solidFill>
          <a:ln/>
        </p:spPr>
      </p:sp>
      <p:sp>
        <p:nvSpPr>
          <p:cNvPr id="29" name="Shape 27"/>
          <p:cNvSpPr/>
          <p:nvPr/>
        </p:nvSpPr>
        <p:spPr>
          <a:xfrm>
            <a:off x="7440603" y="2331720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7440603" y="23317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12142" y="2971800"/>
            <a:ext cx="135069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7030430" y="3429000"/>
            <a:ext cx="131412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Dice+CE trainer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408561" y="3337560"/>
            <a:ext cx="164592" cy="0"/>
          </a:xfrm>
          <a:prstGeom prst="line">
            <a:avLst/>
          </a:prstGeom>
          <a:noFill/>
          <a:ln w="19050">
            <a:solidFill>
              <a:srgbClr val="5B748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582297" y="2103120"/>
            <a:ext cx="1423851" cy="2468880"/>
          </a:xfrm>
          <a:prstGeom prst="roundRect">
            <a:avLst>
              <a:gd name="adj" fmla="val 6422"/>
            </a:avLst>
          </a:prstGeom>
          <a:solidFill>
            <a:srgbClr val="F5F9FA"/>
          </a:solidFill>
          <a:ln/>
        </p:spPr>
      </p:sp>
      <p:sp>
        <p:nvSpPr>
          <p:cNvPr id="35" name="Shape 33"/>
          <p:cNvSpPr/>
          <p:nvPr/>
        </p:nvSpPr>
        <p:spPr>
          <a:xfrm>
            <a:off x="9047335" y="2331720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6" name="Text 34"/>
          <p:cNvSpPr/>
          <p:nvPr/>
        </p:nvSpPr>
        <p:spPr>
          <a:xfrm>
            <a:off x="9047335" y="23317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618873" y="2971800"/>
            <a:ext cx="135069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study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8637161" y="3429000"/>
            <a:ext cx="131412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/ sampling / aug / arch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0015293" y="3337560"/>
            <a:ext cx="164592" cy="0"/>
          </a:xfrm>
          <a:prstGeom prst="line">
            <a:avLst/>
          </a:prstGeom>
          <a:noFill/>
          <a:ln w="19050">
            <a:solidFill>
              <a:srgbClr val="5B7480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10189029" y="2103120"/>
            <a:ext cx="1423851" cy="2468880"/>
          </a:xfrm>
          <a:prstGeom prst="roundRect">
            <a:avLst>
              <a:gd name="adj" fmla="val 6422"/>
            </a:avLst>
          </a:prstGeom>
          <a:solidFill>
            <a:srgbClr val="1C7293"/>
          </a:solidFill>
          <a:ln/>
        </p:spPr>
      </p:sp>
      <p:sp>
        <p:nvSpPr>
          <p:cNvPr id="41" name="Shape 39"/>
          <p:cNvSpPr/>
          <p:nvPr/>
        </p:nvSpPr>
        <p:spPr>
          <a:xfrm>
            <a:off x="10654066" y="2331720"/>
            <a:ext cx="493776" cy="49377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2" name="Text 40"/>
          <p:cNvSpPr/>
          <p:nvPr/>
        </p:nvSpPr>
        <p:spPr>
          <a:xfrm>
            <a:off x="10654066" y="23317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0225605" y="2971800"/>
            <a:ext cx="135069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10243893" y="3429000"/>
            <a:ext cx="131412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aggregate, plot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EAF2F3"/>
          </a:solidFill>
          <a:ln/>
        </p:spPr>
      </p:sp>
      <p:sp>
        <p:nvSpPr>
          <p:cNvPr id="46" name="Text 44"/>
          <p:cNvSpPr/>
          <p:nvPr/>
        </p:nvSpPr>
        <p:spPr>
          <a:xfrm>
            <a:off x="822960" y="489204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first: </a:t>
            </a:r>
            <a:pPr indent="0" marL="0">
              <a:buNone/>
            </a:pPr>
            <a:r>
              <a:rPr lang="en-US" sz="17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fixed stratified split from step 1 is reused through every later stage — and every trainer passes an overfit-check gate before real GPU time is spent on it.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Medical Imaging — ISLES’26 Project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&amp; the Stratified Split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218420" y="38862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7234" y="497434"/>
            <a:ext cx="559613" cy="55961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1887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Per-volume z-score normalization; gzip-integrity-checked; 3d_fullres patch-based representation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stratified 6-way split replaces nnU-Net’s default unstratified 5-fold CV — very important for a fair, reusable comparison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48640" y="2103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pool (train=898, val=128, test_id=129, test_ood=129)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450592"/>
            <a:ext cx="2628900" cy="960120"/>
          </a:xfrm>
          <a:prstGeom prst="roundRect">
            <a:avLst>
              <a:gd name="adj" fmla="val 7619"/>
            </a:avLst>
          </a:prstGeom>
          <a:solidFill>
            <a:srgbClr val="1C7293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542032"/>
            <a:ext cx="24460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2834640"/>
            <a:ext cx="2446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314700" y="2450592"/>
            <a:ext cx="2628900" cy="960120"/>
          </a:xfrm>
          <a:prstGeom prst="roundRect">
            <a:avLst>
              <a:gd name="adj" fmla="val 7619"/>
            </a:avLst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3406140" y="2542032"/>
            <a:ext cx="24460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406140" y="2834640"/>
            <a:ext cx="2446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080760" y="2450592"/>
            <a:ext cx="2628900" cy="960120"/>
          </a:xfrm>
          <a:prstGeom prst="roundRect">
            <a:avLst>
              <a:gd name="adj" fmla="val 7619"/>
            </a:avLst>
          </a:prstGeom>
          <a:solidFill>
            <a:srgbClr val="0B3D5C"/>
          </a:solidFill>
          <a:ln/>
        </p:spPr>
      </p:sp>
      <p:sp>
        <p:nvSpPr>
          <p:cNvPr id="14" name="Text 11"/>
          <p:cNvSpPr/>
          <p:nvPr/>
        </p:nvSpPr>
        <p:spPr>
          <a:xfrm>
            <a:off x="6172200" y="2542032"/>
            <a:ext cx="24460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test_id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172200" y="2834640"/>
            <a:ext cx="2446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8846820" y="2450592"/>
            <a:ext cx="2628900" cy="960120"/>
          </a:xfrm>
          <a:prstGeom prst="roundRect">
            <a:avLst>
              <a:gd name="adj" fmla="val 7619"/>
            </a:avLst>
          </a:prstGeom>
          <a:solidFill>
            <a:srgbClr val="0B3D5C"/>
          </a:solidFill>
          <a:ln/>
        </p:spPr>
      </p:sp>
      <p:sp>
        <p:nvSpPr>
          <p:cNvPr id="17" name="Text 14"/>
          <p:cNvSpPr/>
          <p:nvPr/>
        </p:nvSpPr>
        <p:spPr>
          <a:xfrm>
            <a:off x="8938260" y="2542032"/>
            <a:ext cx="24460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test_ood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938260" y="2834640"/>
            <a:ext cx="2446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" y="3611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Hidden, opened once (final_holdout_id 5%  +  final_holdout_ood 10%)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48640" y="3959352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B0472B"/>
          </a:solidFill>
          <a:ln/>
        </p:spPr>
      </p:sp>
      <p:sp>
        <p:nvSpPr>
          <p:cNvPr id="21" name="Text 18"/>
          <p:cNvSpPr/>
          <p:nvPr/>
        </p:nvSpPr>
        <p:spPr>
          <a:xfrm>
            <a:off x="822960" y="395935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final_holdout_id (5%)  +  final_holdout_ood (10%)  — never inspected during development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48640" y="493776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EAF2F3"/>
          </a:solidFill>
          <a:ln/>
        </p:spPr>
      </p:sp>
      <p:sp>
        <p:nvSpPr>
          <p:cNvPr id="23" name="Text 20"/>
          <p:cNvSpPr/>
          <p:nvPr/>
        </p:nvSpPr>
        <p:spPr>
          <a:xfrm>
            <a:off x="822960" y="498348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by lesion-size bin (small/medium/large); test_ood/holdout_ood by whole excluded sites (20,000-trial seeded search) — this measures cross-center generalization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guards: git-ignored final_holdout/ dir, ground_truth_DO_NOT_TOUCH/, explicit no-overlap assertions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Medical Imaging — ISLES’26 Project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Model: Self-Configuring nnU-Net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149840" y="45720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7856" y="585216"/>
            <a:ext cx="658368" cy="6583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18872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5F9FA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18872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40480" y="118872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nnU-Net v2 (nnunetv2==2.8.1, pinned)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48640" y="1975104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5F9FA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197510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40480" y="1975104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3d_fullres, self-configured from dataset fingerprint, deep supervision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48640" y="2761488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5F9FA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2761488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studied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840480" y="2761488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nnUNetPlans vs. residual-encoder nnUNetResEncUNetMPlans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1188720" y="4389120"/>
            <a:ext cx="914400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331720" y="4549140"/>
            <a:ext cx="914400" cy="105156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74720" y="4686300"/>
            <a:ext cx="1097280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846320" y="4823460"/>
            <a:ext cx="109728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17920" y="4686300"/>
            <a:ext cx="1097280" cy="777240"/>
          </a:xfrm>
          <a:prstGeom prst="rect">
            <a:avLst/>
          </a:prstGeom>
          <a:solidFill>
            <a:srgbClr val="0B3D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360920" y="4549140"/>
            <a:ext cx="914400" cy="1051560"/>
          </a:xfrm>
          <a:prstGeom prst="rect">
            <a:avLst/>
          </a:prstGeom>
          <a:solidFill>
            <a:srgbClr val="0B3D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503920" y="4389120"/>
            <a:ext cx="914400" cy="1371600"/>
          </a:xfrm>
          <a:prstGeom prst="rect">
            <a:avLst/>
          </a:prstGeom>
          <a:solidFill>
            <a:srgbClr val="0B3D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509760" y="5074920"/>
            <a:ext cx="457200" cy="0"/>
          </a:xfrm>
          <a:prstGeom prst="line">
            <a:avLst/>
          </a:prstGeom>
          <a:noFill/>
          <a:ln w="19050">
            <a:solidFill>
              <a:srgbClr val="5B7480"/>
            </a:solidFill>
            <a:prstDash val="solid"/>
            <a:tailEnd type="triangle"/>
          </a:ln>
        </p:spPr>
      </p:sp>
      <p:sp>
        <p:nvSpPr>
          <p:cNvPr id="22" name="Text 19"/>
          <p:cNvSpPr/>
          <p:nvPr/>
        </p:nvSpPr>
        <p:spPr>
          <a:xfrm>
            <a:off x="10012680" y="47548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T1w volume in → 3D encoder/decoder + deep supervision → binary lesion mask out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Medical Imaging — ISLES’26 Project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Work: Bugs Caught by Diagnosis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218420" y="388620"/>
            <a:ext cx="777240" cy="777240"/>
          </a:xfrm>
          <a:prstGeom prst="ellipse">
            <a:avLst/>
          </a:prstGeom>
          <a:solidFill>
            <a:srgbClr val="B0472B"/>
          </a:solidFill>
          <a:ln/>
        </p:spPr>
      </p:sp>
      <p:pic>
        <p:nvPicPr>
          <p:cNvPr id="4" name="Image 0" descr="bu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7234" y="497434"/>
            <a:ext cx="559613" cy="55961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188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check_status.sh — a diagnosis tool built for this project: per-condition epoch, loss, pseudo-Dice, ETA, and process-alive status, read from the newest run log.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F5F9FA"/>
          </a:solidFill>
          <a:ln/>
        </p:spPr>
      </p:sp>
      <p:sp>
        <p:nvSpPr>
          <p:cNvPr id="7" name="Shape 4"/>
          <p:cNvSpPr/>
          <p:nvPr/>
        </p:nvSpPr>
        <p:spPr>
          <a:xfrm>
            <a:off x="777240" y="1965960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B0472B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9659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#1 — CAUGHT AT SCALE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24688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Lesion-aware sampling collapse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77240" y="306324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inverse-volume weights: 3 empty-mask cases alone captured 66% of sampling probability (top 10/898 → 74.5%)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trained almost only on near-empty cases and collapsed to predicting nothing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by Pseudo-Dice pinned at exactly 0.0 for 96+ epochs while loss kept moving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with bin-level 4:2:1 weighting — share dropped to 0.5% / 1.7%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72200" y="178308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F5F9FA"/>
          </a:solidFill>
          <a:ln/>
        </p:spPr>
      </p:sp>
      <p:sp>
        <p:nvSpPr>
          <p:cNvPr id="12" name="Shape 9"/>
          <p:cNvSpPr/>
          <p:nvPr/>
        </p:nvSpPr>
        <p:spPr>
          <a:xfrm>
            <a:off x="6400800" y="1965960"/>
            <a:ext cx="3566160" cy="384048"/>
          </a:xfrm>
          <a:prstGeom prst="roundRect">
            <a:avLst>
              <a:gd name="adj" fmla="val 19048"/>
            </a:avLst>
          </a:prstGeom>
          <a:solidFill>
            <a:srgbClr val="2E8B57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0" y="19659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#2 — CAUGHT PRE-LAUNCH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0" y="24688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TopK-family loss collapse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6400800" y="306324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TopK10 collapsed to an entirely empty mask on a real 500-epoch launch — no term punishes an empty prediction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hedged Dice+TopK10 version was suspected to have the same flaw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Overfit-check sanity gate (100 epochs, 6-case sample) caught the identical Pseudo-Dice-pinned-at-0.0 signature in minutes, not epochs — before any real GPU time was spent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not a wiring bug via a standalone synthetic-batch gradient check; both dropped as a real negative finding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Medical Imaging — ISLES’26 Project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&amp; Sampling Study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four exploration axes (loss, sampling, augmentation, architecture) — same split, same epoch budget throughout.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94960" cy="384048"/>
          </a:xfrm>
          <a:prstGeom prst="roundRect">
            <a:avLst>
              <a:gd name="adj" fmla="val 9524"/>
            </a:avLst>
          </a:prstGeom>
          <a:solidFill>
            <a:srgbClr val="0B3D5C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9202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624328" y="19202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361688" y="19202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304288"/>
            <a:ext cx="5394960" cy="512064"/>
          </a:xfrm>
          <a:prstGeom prst="rect">
            <a:avLst/>
          </a:prstGeom>
          <a:solidFill>
            <a:srgbClr val="F5F9F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304288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Dice+CE (baseline)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624328" y="230428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61688" y="2304288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reference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816352"/>
            <a:ext cx="539496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2816352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Tversky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24328" y="281635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α=0.3, β=0.7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361688" y="2816352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recall, more FP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328416"/>
            <a:ext cx="5394960" cy="512064"/>
          </a:xfrm>
          <a:prstGeom prst="rect">
            <a:avLst/>
          </a:prstGeom>
          <a:solidFill>
            <a:srgbClr val="F5F9FA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3328416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FocalTversky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624328" y="3328416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α=0.3,β=0.7,γ=0.75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361688" y="3328416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Hard-example focus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840480"/>
            <a:ext cx="539496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3840480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TverskyMild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624328" y="3840480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α=0.4, β=0.6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361688" y="3840480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Softened, keeps Dice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352544"/>
            <a:ext cx="5394960" cy="512064"/>
          </a:xfrm>
          <a:prstGeom prst="rect">
            <a:avLst/>
          </a:prstGeom>
          <a:solidFill>
            <a:srgbClr val="F5F9FA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4352544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TopK10 / DC+TopK10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624328" y="4352544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361688" y="4352544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collapsed — dropped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63640" y="15087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(small-lesion emphasis)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6263640" y="1965960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4:2:1 bin-level weighting (small:medium:large) — the fix for the sampling-collapse bug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 (p=0.5): power-law weighting grounded in real per-bin volume mass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Pow-Curriculum: p annealed 0→1 over 20×25-epoch steps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always stays uniform — only the training loader is reweighted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AF2F3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507492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real conditions total (loss × sampling × augmentation × architecture), all trained 500 epochs on Dataset002 (1,453 cases) with the same evaluation protocol.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Medical Imaging — ISLES’26 Project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Augmentation &amp;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— WideAug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3949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stock intensity-augmentation range was nnU-Net’s untouched generic default — chosen for no dataset-specific reason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Widened deliberately: brightness/contrast ×0.6–1.4 (p=0.3, was ×0.75–1.25/p=0.15); gamma 0.6–1.6 (p=0.2/0.4)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deformation left OFF — would distort the lesion shape itself, which is exactly what Dice/lesion-F1 score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has no Hounsfield-unit-style absolute meaning to preserve, so a wider range stays anatomically valid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63640" y="11430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Residual Encoder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263640" y="1554480"/>
            <a:ext cx="53949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nnU-Net’s own planner flags the default plain-encoder plan as outdated vs. residual-encoder presets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headroom (L40S, 46GB, ~37GB free) comfortably covers the ResEncM plan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top of the two cleanest conditions (Baseline, WideAugBaseline) — deliberately not stacked with a third unvalidated change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decided M vs. L — L is likely stronger but slower; M is what was actually run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Medical Imaging — ISLES’26 Project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Post-Processing: “No-Op Wins”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0" y="457200"/>
            <a:ext cx="3383280" cy="384048"/>
          </a:xfrm>
          <a:prstGeom prst="roundRect">
            <a:avLst>
              <a:gd name="adj" fmla="val 19048"/>
            </a:avLst>
          </a:prstGeom>
          <a:solidFill>
            <a:srgbClr val="2E8B5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45720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— DATASET002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Connected-component grid search (min_voxels × connectivity, min_voxels=1=raw/no-op), tuned only on val, frozen combo applied once to test. Dice-primary rerun: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64240" cy="548640"/>
          </a:xfrm>
          <a:prstGeom prst="roundRect">
            <a:avLst>
              <a:gd name="adj" fmla="val 6667"/>
            </a:avLst>
          </a:prstGeom>
          <a:solidFill>
            <a:srgbClr val="0B3D5C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783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(Dice-primary rerun)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01568" y="17830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Dice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73168" y="17830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HD95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44768" y="178308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Les-F1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53528" y="17830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Dice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025128" y="17830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HD95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396728" y="178308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Les-F1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331720"/>
            <a:ext cx="11064240" cy="548640"/>
          </a:xfrm>
          <a:prstGeom prst="rect">
            <a:avLst/>
          </a:prstGeom>
          <a:solidFill>
            <a:srgbClr val="F5F9FA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331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(no-op)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401568" y="23317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0.6553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773168" y="23317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20.006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144768" y="23317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0.651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653528" y="23317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0.6552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025128" y="23317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17.095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396728" y="233172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0.6570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2880360"/>
            <a:ext cx="1106424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2880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cc15_conn2 (selected)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401568" y="28803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0.6560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773168" y="28803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20.081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144768" y="28803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0.6843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653528" y="28803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0.6529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025128" y="28803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16.843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396728" y="288036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0.6927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3794760"/>
            <a:ext cx="11064240" cy="2331720"/>
          </a:xfrm>
          <a:prstGeom prst="roundRect">
            <a:avLst>
              <a:gd name="adj" fmla="val 3922"/>
            </a:avLst>
          </a:prstGeom>
          <a:solidFill>
            <a:srgbClr val="EAF2F3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393192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Helped: a spurious ~10-voxel blob removed, Dice 0.737→0.848, lesion-F1 0.667→1.0.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Hurt (worst case in the test set): a genuine tiny lesion below the 15-voxel cutoff deleted entirely, Dice 0.714→0.0.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as of the latest project update: still open — ship cc15_conn2 or report raw. Dice cost is inside the noise band; the lesion-F1 gain is real but occasionally deletes a true lesion.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Medical Imaging — ISLES’26 Project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Evaluation: Metrics &amp; Protocol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0B3D5C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2984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" y="175564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Voxel overlap (0–1, higher better)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97680" y="118872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4526280" y="12984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HD95 (mm)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26280" y="175564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95th-pct surface distance (lower better)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046720" y="118872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8275320" y="12984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Lesion-F1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75320" y="175564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Connected-component instance F1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926080"/>
            <a:ext cx="11064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train/val: development only. test_id vs. test_ood: primary dev-time comparison — in-distribution vs. cross-center generalization. final_holdout_id/ood: opened once, at the end.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uses paired case-level comparison + paired bootstrap (2000 resamples, 95% CI; significance = CI excludes 0).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 switched Dice ← HD95 project-wide: Dice is always defined (HD95 is NaN on empty-lesion cases) and lower-variance.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fold is fast to iterate on but not a substitute for full CV — why the final model moved to 3-fold (see Current Status).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Medical Imaging — ISLES’26 Project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the Pipeline Reproducible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running review pass fixed real correctness issues throughout the project, not just at the start.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71500" y="212598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221992"/>
            <a:ext cx="493776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20574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site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63040" y="246888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SOOP site (169 cases) was present on disk but silently missed by find_cases() — fixed and re-verified.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86500" y="212598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222199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78040" y="20574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mismatch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178040" y="246888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reads geometry via SimpleITK, not nibabel, after a stale qform/sform pair produced a false mismatch.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71500" y="400050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4096512"/>
            <a:ext cx="493776" cy="49377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393192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 discovery bug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463040" y="434340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discover_runs() keyed by trainer name only — silently overwrote 2 of 9 runs; now keys by trainer+plans, raises on collision.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286500" y="400050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3" descr="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4096512"/>
            <a:ext cx="493776" cy="49377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178040" y="393192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Fingerprinting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7178040" y="434340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stamps a debug/fingerprint/manifest JSON so a later change can never silently reuse an incompatible checkpoint.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Medical Imaging — ISLES’26 Project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Overall Comparison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503920" y="45720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2E8B57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572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— DATASET002 VAL, n=119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Val-set ranking, Dice-primary, vs. best trainer WideAugBaseline (ResEncM) — dice diff (95% CI), paired bootstrap.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691640"/>
          <a:ext cx="1124712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3 sampling variants are significantly below the top trainer; the other 5 are statistically tied with it.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Medical Imaging — ISLES’26 Project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by Split and Lesion Size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503920" y="45720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2E8B57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572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— DATASET002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17320"/>
          <a:ext cx="53949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309360" y="1417320"/>
          <a:ext cx="53949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566928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B0472B"/>
          </a:solidFill>
          <a:ln/>
        </p:spPr>
      </p:sp>
      <p:sp>
        <p:nvSpPr>
          <p:cNvPr id="8" name="Text 4"/>
          <p:cNvSpPr/>
          <p:nvPr/>
        </p:nvSpPr>
        <p:spPr>
          <a:xfrm>
            <a:off x="685800" y="56692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anomaly: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test_ood scores ≥ test_id across conditions — opposite of the ISLES’26 cross-center-gap premise. Flagged, not yet resolved whether genuine or an artifact of which 6 sites became the locked OOD set.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Medical Imaging — ISLES’26 Project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Ensembling: A Negative Result → Final Model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195560" y="5029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puzz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0774" y="618134"/>
            <a:ext cx="592531" cy="59253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143000"/>
            <a:ext cx="4297680" cy="384048"/>
          </a:xfrm>
          <a:prstGeom prst="roundRect">
            <a:avLst>
              <a:gd name="adj" fmla="val 19048"/>
            </a:avLst>
          </a:prstGeom>
          <a:solidFill>
            <a:srgbClr val="2E8B57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14300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— DATASET002, CONCLUDED 2026-08-21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691640"/>
            <a:ext cx="10972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 check on real voxel-probability correlations: max correlation across all 9 trainers is 0.937 — every trainer remains its own singleton at the r=0.95 cut, so no pair is truly redundant.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single model (val): WideAugBaseline (ResEncM), Dice 0.6553. No 4-model ensemble combo beats it significantly, on val or on held-out test — across all 18 breakdown×metric rows (p range 0.14–0.97).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ensembling does not produce a statistically significant improvement here — a real negative finding, alongside the post-processing “no-op wins” result.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977640"/>
            <a:ext cx="11064240" cy="2286000"/>
          </a:xfrm>
          <a:prstGeom prst="roundRect">
            <a:avLst>
              <a:gd name="adj" fmla="val 4000"/>
            </a:avLst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41148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single-model choice: WideAugBaseline (ResEncM)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2960" y="4572000"/>
            <a:ext cx="10515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0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up on held-out test (Dice 0.6552, best on medium/small size bins) — stacks the two clearest wins (WideAug + ResEncM), not a third unvalidated change.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0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statistically tied on val with 5 of 8 other trainers — best-ranked among a tied group, not a clean outright winner. Plain WideAugBaseline is statistically indistinguishable and cheaper.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Medical Imaging — ISLES’26 Project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Figures to Insert (Manual)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38160" y="457200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B0472B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4572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PLACEHOLDERS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repo filenames — dropped in manually once finalized. Not part of the spoken talk.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5F9FA"/>
          </a:solidFill>
          <a:ln/>
        </p:spPr>
      </p:sp>
      <p:sp>
        <p:nvSpPr>
          <p:cNvPr id="7" name="Shape 5"/>
          <p:cNvSpPr/>
          <p:nvPr/>
        </p:nvSpPr>
        <p:spPr>
          <a:xfrm>
            <a:off x="832104" y="1847088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353" y="1921337"/>
            <a:ext cx="381853" cy="38185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1746504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figures/learning_curves/, results_comparison/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508760" y="209397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learning_curves_all_trainers.png, overall_dice.png, dice_by_split.png, dice_by_center.png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65176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5F9FA"/>
          </a:solidFill>
          <a:ln/>
        </p:spPr>
      </p:sp>
      <p:sp>
        <p:nvSpPr>
          <p:cNvPr id="12" name="Shape 9"/>
          <p:cNvSpPr/>
          <p:nvPr/>
        </p:nvSpPr>
        <p:spPr>
          <a:xfrm>
            <a:off x="832104" y="2807208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353" y="2881457"/>
            <a:ext cx="381853" cy="38185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08760" y="2706624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figures/threshold_analysis/, postprocess_grid/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508760" y="305409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dice_vs_threshold_&lt;experiment&gt;.png, grid_summary_val.csv (chart)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" y="361188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5F9FA"/>
          </a:solidFill>
          <a:ln/>
        </p:spPr>
      </p:sp>
      <p:sp>
        <p:nvSpPr>
          <p:cNvPr id="17" name="Shape 13"/>
          <p:cNvSpPr/>
          <p:nvPr/>
        </p:nvSpPr>
        <p:spPr>
          <a:xfrm>
            <a:off x="832104" y="3767328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2" descr="im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353" y="3841577"/>
            <a:ext cx="381853" cy="38185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08760" y="3666744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figures/qualitative_overlays/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508760" y="401421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&lt;model-label&gt;_{best,fn_dominant,fp_dominant}.png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48640" y="457200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5F9FA"/>
          </a:solidFill>
          <a:ln/>
        </p:spPr>
      </p:sp>
      <p:sp>
        <p:nvSpPr>
          <p:cNvPr id="22" name="Shape 17"/>
          <p:cNvSpPr/>
          <p:nvPr/>
        </p:nvSpPr>
        <p:spPr>
          <a:xfrm>
            <a:off x="832104" y="4727448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3" descr="ima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353" y="4801697"/>
            <a:ext cx="381853" cy="38185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508760" y="4626864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figures/augmentation_examples/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508760" y="49743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augmentation_comparison_ATLAS_r001s001_ses1.png (+ forced_intensity, context)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548640" y="553212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5F9FA"/>
          </a:solidFill>
          <a:ln/>
        </p:spPr>
      </p:sp>
      <p:sp>
        <p:nvSpPr>
          <p:cNvPr id="27" name="Shape 21"/>
          <p:cNvSpPr/>
          <p:nvPr/>
        </p:nvSpPr>
        <p:spPr>
          <a:xfrm>
            <a:off x="832104" y="5687568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8" name="Image 4" descr="ima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353" y="5761817"/>
            <a:ext cx="381853" cy="381853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508760" y="5586984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figures/finalist_selection/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1508760" y="593445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dice_correlation_heatmap.png, pca_scatter.png, dendrogram.png</a:t>
            </a:r>
            <a:endParaRPr lang="en-US" sz="1050" dirty="0"/>
          </a:p>
        </p:txBody>
      </p:sp>
      <p:sp>
        <p:nvSpPr>
          <p:cNvPr id="31" name="Text 24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Medical Imaging — ISLES’26 Project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Status: Final Run In Progress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126980" y="525780"/>
            <a:ext cx="960120" cy="9601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hourgl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1397" y="660197"/>
            <a:ext cx="691286" cy="6912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1887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so far (loss / sampling / augmentation / architecture / postprocessing / ensembling) is model selection on Dataset002.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48640" y="187452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configuration (WideAugBaseline, ResEncM plans) is now training on Dataset003 — train+val+test_id+test_ood pooled (≈1,212 cases), stratified 3-fold CV, a new dataset ID kept fully separate from Dataset002.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3-fold, not single-fold: the single biggest methodological upgrade for the model that actually ships — addresses the “one fold can’t support strong claims” caveat directly.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internal test split this time — everything went into training. The only remaining evaluation is the untouched final_holdout_id / final_holdout_ood, scored once, deliberately, after training finishes.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project’s real final result — not yet available at the time of this talk.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Medical Imaging — ISLES’26 Project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66160" cy="4709160"/>
          </a:xfrm>
          <a:prstGeom prst="roundRect">
            <a:avLst>
              <a:gd name="adj" fmla="val 2564"/>
            </a:avLst>
          </a:prstGeom>
          <a:solidFill>
            <a:srgbClr val="F5F9F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54480"/>
            <a:ext cx="3566160" cy="8229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544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3017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Loss/sampling/augmentation differences mostly wash out under proper statistical testing.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discipline (overfit gates, live monitoring) caught two real collapse bugs before they wasted time.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297680" y="1554480"/>
            <a:ext cx="3566160" cy="4709160"/>
          </a:xfrm>
          <a:prstGeom prst="roundRect">
            <a:avLst>
              <a:gd name="adj" fmla="val 2564"/>
            </a:avLst>
          </a:prstGeom>
          <a:solidFill>
            <a:srgbClr val="F5F9FA"/>
          </a:solidFill>
          <a:ln/>
        </p:spPr>
      </p:sp>
      <p:sp>
        <p:nvSpPr>
          <p:cNvPr id="8" name="Shape 6"/>
          <p:cNvSpPr/>
          <p:nvPr/>
        </p:nvSpPr>
        <p:spPr>
          <a:xfrm>
            <a:off x="4297680" y="1554480"/>
            <a:ext cx="3566160" cy="822960"/>
          </a:xfrm>
          <a:prstGeom prst="rect">
            <a:avLst/>
          </a:prstGeom>
          <a:solidFill>
            <a:srgbClr val="B0472B"/>
          </a:solidFill>
          <a:ln/>
        </p:spPr>
      </p:sp>
      <p:sp>
        <p:nvSpPr>
          <p:cNvPr id="9" name="Text 7"/>
          <p:cNvSpPr/>
          <p:nvPr/>
        </p:nvSpPr>
        <p:spPr>
          <a:xfrm>
            <a:off x="4434840" y="15544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results, reported honestly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572000" y="2560320"/>
            <a:ext cx="3017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Post-processing: no-op essentially wins; a small lesion-F1 gain isn’t free.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Ensembling: no significant gain over the single best model, on val and test alike.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46720" y="1554480"/>
            <a:ext cx="3566160" cy="4709160"/>
          </a:xfrm>
          <a:prstGeom prst="roundRect">
            <a:avLst>
              <a:gd name="adj" fmla="val 2564"/>
            </a:avLst>
          </a:prstGeom>
          <a:solidFill>
            <a:srgbClr val="F5F9FA"/>
          </a:solidFill>
          <a:ln/>
        </p:spPr>
      </p:sp>
      <p:sp>
        <p:nvSpPr>
          <p:cNvPr id="12" name="Shape 10"/>
          <p:cNvSpPr/>
          <p:nvPr/>
        </p:nvSpPr>
        <p:spPr>
          <a:xfrm>
            <a:off x="8046720" y="1554480"/>
            <a:ext cx="3566160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8183880" y="15544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321040" y="2560320"/>
            <a:ext cx="3017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test_ood ≥ test_id genuine, or an artifact of which 6 sites got excluded?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Dataset003 3-fold final run confirm the single-fold model-selection story?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Medical Imaging — ISLES’26 Project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04120" y="50292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4938" y="643738"/>
            <a:ext cx="724205" cy="7242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6576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and Future Work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48640" y="196596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reproducible nnU-Net pipeline for stroke lesion segmentation on ATLAS v3.0, with a stratified 6-way split and real leakage guards.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Explored 9 real trainer conditions across loss, sampling, augmentation, and architecture, with proper paired-bootstrap statistics.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Investigated post-processing and ensembling — both real, negative/inconclusive findings, reported honestly rather than hidden.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and fixed two real training-collapse bugs through diagnosis discipline, one before any GPU time was spent.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263640" y="1417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263640" y="196596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Dataset003 3-fold final run and score it once against the untouched final holdout.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the cc15_conn2-vs-raw post-processing decision for the shipped model.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test_ood ≥ test_id anomaly with a split-aware per-center figure.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by design: domain-adversarial training, ResEnc-L, LR/optimizer tuning, EMA/SWA.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9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2026-08-21T10:31:05Z</dcterms:created>
  <dcterms:modified xsi:type="dcterms:W3CDTF">2026-08-21T10:31:05Z</dcterms:modified>
</cp:coreProperties>
</file>